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Where should India's next public EV chargers go?</a:t>
            </a:r>
          </a:p>
          <a:p>
            <a:pPr>
              <a:defRPr sz="1800"/>
            </a:pPr>
            <a:r>
              <a:t>51 cities · 2021–2026 · 3,519 city-months</a:t>
            </a:r>
          </a:p>
          <a:p>
            <a:pPr>
              <a:defRPr sz="1800"/>
            </a:pPr>
            <a:r>
              <a:t>Charging Demand Score (CDS) for CPO siting decisions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EV adoption is growing; public charging is uneven.</a:t>
            </a:r>
          </a:p>
          <a:p>
            <a:pPr>
              <a:defRPr sz="1800"/>
            </a:pPr>
            <a:r>
              <a:t>Total EVs per charger is misleading: 2W charge at home, 3W/4W use public infrastructure.</a:t>
            </a:r>
          </a:p>
          <a:p>
            <a:pPr>
              <a:defRPr sz="1800"/>
            </a:pPr>
            <a:r>
              <a:t>Need a weighted demand metric, not a raw count.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1. Quantify effective public demand (2W/3W/4W weighted).</a:t>
            </a:r>
          </a:p>
          <a:p>
            <a:pPr>
              <a:defRPr sz="1800"/>
            </a:pPr>
            <a:r>
              <a:t>2. Model adoption drivers (negative binomial).</a:t>
            </a:r>
          </a:p>
          <a:p>
            <a:pPr>
              <a:defRPr sz="1800"/>
            </a:pPr>
            <a:r>
              <a:t>3. Classify High/Low demand (logistic + LDA).</a:t>
            </a:r>
          </a:p>
          <a:p>
            <a:pPr>
              <a:defRPr sz="1800"/>
            </a:pPr>
            <a:r>
              <a:t>4. Forecast 12-month growth (SARIMA / Holt-Winters).</a:t>
            </a:r>
          </a:p>
          <a:p>
            <a:pPr>
              <a:defRPr sz="1800"/>
            </a:pPr>
            <a:r>
              <a:t>5. Rank hotspots and map them.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Vahan registrations: 2021 from dashboard cache, 2022+ from export.</a:t>
            </a:r>
          </a:p>
          <a:p>
            <a:pPr>
              <a:defRPr sz="1800"/>
            </a:pPr>
            <a:r>
              <a:t>E-Amrit chargers: 29,070 station records; fixed 5/10 km counts.</a:t>
            </a:r>
          </a:p>
          <a:p>
            <a:pPr>
              <a:defRPr sz="1800"/>
            </a:pPr>
            <a:r>
              <a:t>Census 2011, modelled petrol, state policy, MOSPI income, ERA5 temperature.</a:t>
            </a:r>
          </a:p>
          <a:p>
            <a:pPr>
              <a:defRPr sz="1800"/>
            </a:pPr>
            <a:r>
              <a:t>Provenance ledger records every fetch.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Clean: grid, ≤2-month interpolation, IQR flags, growth features.</a:t>
            </a:r>
          </a:p>
          <a:p>
            <a:pPr>
              <a:defRPr sz="1800"/>
            </a:pPr>
            <a:r>
              <a:t>Merge: master_ev_panel.csv (3,519 × 116).</a:t>
            </a:r>
          </a:p>
          <a:p>
            <a:pPr>
              <a:defRPr sz="1800"/>
            </a:pPr>
            <a:r>
              <a:t>Models: M1 drivers, M2 classifier, M3 forecasts.</a:t>
            </a:r>
          </a:p>
          <a:p>
            <a:pPr>
              <a:defRPr sz="1800"/>
            </a:pPr>
            <a:r>
              <a:t>Synthesise: CDS = 0.4·z(M1) + 0.3·P(high) + 0.3·z(M3 growth).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M1 — adoption drivers</a:t>
            </a:r>
          </a:p>
        </p:txBody>
      </p:sp>
      <p:pic>
        <p:nvPicPr>
          <p:cNvPr id="3" name="Picture 2" descr="national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6949440" cy="258982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72400" y="1463040"/>
            <a:ext cx="38404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Non-EV market IRR 2.72 (p&lt;0.001).</a:t>
            </a:r>
          </a:p>
          <a:p>
            <a:pPr>
              <a:defRPr sz="1400"/>
            </a:pPr>
            <a:r>
              <a:t>Income IRR 0.56; policy IRR 1.36.</a:t>
            </a:r>
          </a:p>
          <a:p>
            <a:pPr>
              <a:defRPr sz="1400"/>
            </a:pPr>
            <a:r>
              <a:t>Fuel price is a trend artefact; results hold without 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M2 — High/Low demand</a:t>
            </a:r>
          </a:p>
        </p:txBody>
      </p:sp>
      <p:pic>
        <p:nvPicPr>
          <p:cNvPr id="3" name="Picture 2" descr="m2_au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6949440" cy="31129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72400" y="1463040"/>
            <a:ext cx="38404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Logistic AUC 0.822; LDA 0.818.</a:t>
            </a:r>
          </a:p>
          <a:p>
            <a:pPr>
              <a:defRPr sz="1400"/>
            </a:pPr>
            <a:r>
              <a:t>LOOCV 76.5% / 78.4%.</a:t>
            </a:r>
          </a:p>
          <a:p>
            <a:pPr>
              <a:defRPr sz="1400"/>
            </a:pPr>
            <a:r>
              <a:t>No leakage: chargers, EV stock and growth are excluded.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M3 — 12-month forecasts</a:t>
            </a:r>
          </a:p>
        </p:txBody>
      </p:sp>
      <p:pic>
        <p:nvPicPr>
          <p:cNvPr id="3" name="Picture 2" descr="m3_forecast_vs_observ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6949440" cy="44716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72400" y="1463040"/>
            <a:ext cx="38404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28 SARIMA / 23 Holt-Winters winners.</a:t>
            </a:r>
          </a:p>
          <a:p>
            <a:pPr>
              <a:defRPr sz="1400"/>
            </a:pPr>
            <a:r>
              <a:t>All 51 fits pass the quality gate.</a:t>
            </a:r>
          </a:p>
          <a:p>
            <a:pPr>
              <a:defRPr sz="1400"/>
            </a:pPr>
            <a:r>
              <a:t>2022-only sensitivity: median growth delta 0.033.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CDS — top 15 hotspots</a:t>
            </a:r>
          </a:p>
        </p:txBody>
      </p:sp>
      <p:pic>
        <p:nvPicPr>
          <p:cNvPr id="3" name="Picture 2" descr="cds_top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6949440" cy="35240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72400" y="1463040"/>
            <a:ext cx="38404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Top five: Bengaluru, Jaipur, Delhi, Pune, Rajkot.</a:t>
            </a:r>
          </a:p>
          <a:p>
            <a:pPr>
              <a:defRPr sz="1400"/>
            </a:pPr>
            <a:r>
              <a:t>2 Critical, 2 High.</a:t>
            </a:r>
          </a:p>
          <a:p>
            <a:pPr>
              <a:defRPr sz="1400"/>
            </a:pPr>
            <a:r>
              <a:t>Weight perturbations keep 14–15 of 15.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Policy rubric unfilled: 0/30 states verified against PDFs.</a:t>
            </a:r>
          </a:p>
          <a:p>
            <a:pPr>
              <a:defRPr sz="1800"/>
            </a:pPr>
            <a:r>
              <a:t>Seven cities use municipal boundaries; populations are now verified.</a:t>
            </a:r>
          </a:p>
          <a:p>
            <a:pPr>
              <a:defRPr sz="1800"/>
            </a:pPr>
            <a:r>
              <a:t>Eight cities show a &gt;1.5× 2021→2022 seam.</a:t>
            </a:r>
          </a:p>
          <a:p>
            <a:pPr>
              <a:defRPr sz="1800"/>
            </a:pPr>
            <a:r>
              <a:t>Chargers are one snapshot; no monthly supply series.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Verify policy and the seven demographic rows before publication.</a:t>
            </a:r>
          </a:p>
          <a:p>
            <a:pPr>
              <a:defRPr sz="1800"/>
            </a:pPr>
            <a:r>
              <a:t>Use the 10 km fixed-radius supply measure.</a:t>
            </a:r>
          </a:p>
          <a:p>
            <a:pPr>
              <a:defRPr sz="1800"/>
            </a:pPr>
            <a:r>
              <a:t>Deploy against the top-15 shortlist.</a:t>
            </a:r>
          </a:p>
          <a:p>
            <a:pPr>
              <a:defRPr sz="1800"/>
            </a:pPr>
            <a:r>
              <a:t>Re-run 2021+2022 sensitivity before quoting forecast growth.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